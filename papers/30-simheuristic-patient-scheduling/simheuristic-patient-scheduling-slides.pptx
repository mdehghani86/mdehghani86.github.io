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9" r:id="rId2"/>
    <p:sldId id="295" r:id="rId3"/>
    <p:sldId id="259" r:id="rId4"/>
    <p:sldId id="284" r:id="rId5"/>
    <p:sldId id="294" r:id="rId6"/>
    <p:sldId id="290" r:id="rId7"/>
    <p:sldId id="293" r:id="rId8"/>
    <p:sldId id="291" r:id="rId9"/>
    <p:sldId id="285" r:id="rId10"/>
    <p:sldId id="258" r:id="rId11"/>
    <p:sldId id="275" r:id="rId12"/>
    <p:sldId id="265" r:id="rId13"/>
    <p:sldId id="292" r:id="rId14"/>
    <p:sldId id="296" r:id="rId15"/>
    <p:sldId id="297" r:id="rId16"/>
    <p:sldId id="277" r:id="rId17"/>
    <p:sldId id="274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00"/>
    <a:srgbClr val="1393B1"/>
    <a:srgbClr val="07BA8C"/>
    <a:srgbClr val="71D00B"/>
    <a:srgbClr val="100581"/>
    <a:srgbClr val="C0C0C0"/>
    <a:srgbClr val="204582"/>
    <a:srgbClr val="10294C"/>
    <a:srgbClr val="E1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0"/>
  </p:normalViewPr>
  <p:slideViewPr>
    <p:cSldViewPr snapToGrid="0">
      <p:cViewPr>
        <p:scale>
          <a:sx n="78" d="100"/>
          <a:sy n="78" d="100"/>
        </p:scale>
        <p:origin x="285" y="6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BD6E8C-5FFA-4E4B-839A-806B19B1D794}" type="datetimeFigureOut">
              <a:rPr lang="en-US" smtClean="0"/>
              <a:t>12/5/2017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9AA47B7-6E59-4E80-BF03-5C30677CE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7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31774">
              <a:defRPr/>
            </a:pPr>
            <a:fld id="{8EFD332C-E5EB-467E-B835-4E2E371F6ACE}" type="slidenum">
              <a:rPr lang="en-US" sz="1800" kern="0">
                <a:solidFill>
                  <a:sysClr val="windowText" lastClr="000000"/>
                </a:solidFill>
              </a:rPr>
              <a:pPr defTabSz="931774">
                <a:defRPr/>
              </a:pPr>
              <a:t>10</a:t>
            </a:fld>
            <a:endParaRPr lang="en-US" sz="18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54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FD332C-E5EB-467E-B835-4E2E371F6AC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46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6"/>
          <p:cNvSpPr>
            <a:spLocks noChangeArrowheads="1"/>
          </p:cNvSpPr>
          <p:nvPr userDrawn="1"/>
        </p:nvSpPr>
        <p:spPr bwMode="auto">
          <a:xfrm>
            <a:off x="0" y="1524000"/>
            <a:ext cx="12192000" cy="190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cs typeface="Arial" charset="0"/>
            </a:endParaRP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806576"/>
            <a:ext cx="10363200" cy="1470025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  <a:latin typeface="Georgia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429000"/>
            <a:ext cx="8534400" cy="12192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Georgia" pitchFamily="18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6082" name="AutoShape 2" descr="http://by132w.bay132.mail.live.com/att/GetAttachment.aspx?tnail=0&amp;messageId=f079fab4-d2c0-4d79-883f-2f8d25a93a80&amp;Aux=44|0|8CCF571580DB440||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6084" name="AutoShape 4" descr="http://by132w.bay132.mail.live.com/att/GetAttachment.aspx?tnail=0&amp;messageId=f079fab4-d2c0-4d79-883f-2f8d25a93a80&amp;Aux=44|0|8CCF571580DB440||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6086" name="AutoShape 6" descr="http://by132w.bay132.mail.live.com/att/GetAttachment.aspx?tnail=0&amp;messageId=f079fab4-d2c0-4d79-883f-2f8d25a93a80&amp;Aux=44|0|8CCF571580DB440||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" name="Rectangle 26"/>
          <p:cNvSpPr>
            <a:spLocks noChangeArrowheads="1"/>
          </p:cNvSpPr>
          <p:nvPr userDrawn="1"/>
        </p:nvSpPr>
        <p:spPr bwMode="auto">
          <a:xfrm>
            <a:off x="0" y="1524000"/>
            <a:ext cx="12192000" cy="190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14" name="AutoShape 2" descr="http://by132w.bay132.mail.live.com/att/GetAttachment.aspx?tnail=0&amp;messageId=f079fab4-d2c0-4d79-883f-2f8d25a93a80&amp;Aux=44|0|8CCF571580DB440||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endParaRPr lang="en-US" sz="18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15" name="AutoShape 4" descr="http://by132w.bay132.mail.live.com/att/GetAttachment.aspx?tnail=0&amp;messageId=f079fab4-d2c0-4d79-883f-2f8d25a93a80&amp;Aux=44|0|8CCF571580DB440||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endParaRPr lang="en-US" sz="18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16" name="AutoShape 6" descr="http://by132w.bay132.mail.live.com/att/GetAttachment.aspx?tnail=0&amp;messageId=f079fab4-d2c0-4d79-883f-2f8d25a93a80&amp;Aux=44|0|8CCF571580DB440||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endParaRPr lang="en-US" sz="18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20" name="Text Box 27"/>
          <p:cNvSpPr txBox="1">
            <a:spLocks noChangeArrowheads="1"/>
          </p:cNvSpPr>
          <p:nvPr userDrawn="1"/>
        </p:nvSpPr>
        <p:spPr bwMode="auto">
          <a:xfrm>
            <a:off x="-204632" y="1536366"/>
            <a:ext cx="37592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Bodoni Poster" pitchFamily="18" charset="0"/>
                <a:cs typeface="+mn-cs"/>
              </a:rPr>
              <a:t>Excellence Through Innovative Research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7A6445-71A4-43B6-9DB9-32A9FBCF0C31}"/>
              </a:ext>
            </a:extLst>
          </p:cNvPr>
          <p:cNvGrpSpPr/>
          <p:nvPr userDrawn="1"/>
        </p:nvGrpSpPr>
        <p:grpSpPr>
          <a:xfrm>
            <a:off x="0" y="0"/>
            <a:ext cx="12192000" cy="1424539"/>
            <a:chOff x="0" y="0"/>
            <a:chExt cx="12192000" cy="142453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AFA20EB-BE25-4A69-B4F0-A6C25A1A6E36}"/>
                </a:ext>
              </a:extLst>
            </p:cNvPr>
            <p:cNvSpPr/>
            <p:nvPr userDrawn="1"/>
          </p:nvSpPr>
          <p:spPr>
            <a:xfrm>
              <a:off x="0" y="0"/>
              <a:ext cx="12192000" cy="1424539"/>
            </a:xfrm>
            <a:prstGeom prst="rect">
              <a:avLst/>
            </a:prstGeom>
            <a:solidFill>
              <a:srgbClr val="102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" descr="Image result for Winter sim conference 2017">
              <a:extLst>
                <a:ext uri="{FF2B5EF4-FFF2-40B4-BE49-F238E27FC236}">
                  <a16:creationId xmlns:a16="http://schemas.microsoft.com/office/drawing/2014/main" id="{F4E00261-7F7F-4CDF-8804-8D9C834809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3605" y="101299"/>
              <a:ext cx="1221377" cy="1221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8918D3-44FC-4BFE-97FC-5224B51C74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88757" y="241167"/>
              <a:ext cx="5863389" cy="9422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11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432800" cy="639762"/>
          </a:xfrm>
        </p:spPr>
        <p:txBody>
          <a:bodyPr/>
          <a:lstStyle>
            <a:lvl1pPr algn="l">
              <a:defRPr sz="2800" b="1">
                <a:solidFill>
                  <a:srgbClr val="FF0000"/>
                </a:solidFill>
                <a:latin typeface="Book Antiqua" pitchFamily="18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q"/>
              <a:defRPr sz="2400">
                <a:latin typeface="Book Antiqua" pitchFamily="18" charset="0"/>
                <a:cs typeface="Arial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2200">
                <a:latin typeface="Book Antiqua" pitchFamily="18" charset="0"/>
                <a:cs typeface="Arial" pitchFamily="34" charset="0"/>
              </a:defRPr>
            </a:lvl2pPr>
            <a:lvl3pPr>
              <a:buFont typeface="Arial" pitchFamily="34" charset="0"/>
              <a:buChar char="•"/>
              <a:defRPr sz="2000">
                <a:latin typeface="Book Antiqua" pitchFamily="18" charset="0"/>
                <a:cs typeface="Arial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 baseline="0">
                <a:latin typeface="Book Antiqua" pitchFamily="18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Book Antiqua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60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63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72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1"/>
            <a:ext cx="53848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3848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175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99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984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50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413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838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664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73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188384" y="6416675"/>
            <a:ext cx="18473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sz="900">
              <a:solidFill>
                <a:schemeClr val="bg2"/>
              </a:solidFill>
              <a:latin typeface="Book Antiqua" panose="02040602050305030304" pitchFamily="18" charset="0"/>
              <a:cs typeface="Arial" charset="0"/>
            </a:endParaRP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609600" y="990600"/>
            <a:ext cx="10972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Book Antiqua" panose="02040602050305030304" pitchFamily="18" charset="0"/>
              <a:cs typeface="+mn-cs"/>
            </a:endParaRP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274638"/>
            <a:ext cx="84328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1"/>
            <a:ext cx="109728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1727201" y="6400800"/>
            <a:ext cx="10435167" cy="44608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20458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fld id="{B6E3E9BD-1836-42FC-B3D6-4F9383CADEC6}" type="slidenum">
              <a:rPr lang="en-US" sz="1800">
                <a:solidFill>
                  <a:schemeClr val="bg1"/>
                </a:solidFill>
                <a:latin typeface="Book Antiqua" panose="02040602050305030304" pitchFamily="18" charset="0"/>
                <a:cs typeface="Arial" charset="0"/>
              </a:rPr>
              <a:pPr algn="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Book Antiqua" panose="02040602050305030304" pitchFamily="18" charset="0"/>
              <a:cs typeface="Arial" charset="0"/>
            </a:endParaRPr>
          </a:p>
        </p:txBody>
      </p:sp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4718059" y="6485344"/>
            <a:ext cx="22781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Book Antiqua" panose="02040602050305030304" pitchFamily="18" charset="0"/>
              </a:rPr>
              <a:t>WSC |</a:t>
            </a:r>
            <a:r>
              <a:rPr lang="en-US" sz="1200" baseline="0" dirty="0">
                <a:solidFill>
                  <a:schemeClr val="tx1"/>
                </a:solidFill>
                <a:latin typeface="Book Antiqua" panose="02040602050305030304" pitchFamily="18" charset="0"/>
              </a:rPr>
              <a:t> Las Vegas | Dec 5 2017</a:t>
            </a:r>
            <a:endParaRPr lang="en-US" sz="12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pic>
        <p:nvPicPr>
          <p:cNvPr id="8" name="Picture 2" descr="Image result for Winter sim conference 2017">
            <a:extLst>
              <a:ext uri="{FF2B5EF4-FFF2-40B4-BE49-F238E27FC236}">
                <a16:creationId xmlns:a16="http://schemas.microsoft.com/office/drawing/2014/main" id="{38FCF1FC-ED19-4336-9F1D-D4D569832B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25" y="6126164"/>
            <a:ext cx="699215" cy="6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12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800" b="1" dirty="0" smtClean="0">
          <a:solidFill>
            <a:schemeClr val="tx1"/>
          </a:solidFill>
          <a:latin typeface="Book Antiqua" pitchFamily="18" charset="0"/>
          <a:ea typeface="Book Antiqua" pitchFamily="18" charset="0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Georgia" pitchFamily="18" charset="0"/>
          <a:ea typeface="Arial" pitchFamily="-111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Georgia" pitchFamily="18" charset="0"/>
          <a:ea typeface="Arial" pitchFamily="-111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Georgia" pitchFamily="18" charset="0"/>
          <a:ea typeface="Arial" pitchFamily="-111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Georgia" pitchFamily="18" charset="0"/>
          <a:ea typeface="Arial" pitchFamily="-111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Meiryo" pitchFamily="34" charset="-128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Meiryo" pitchFamily="34" charset="-128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Meiryo" pitchFamily="34" charset="-128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Meiryo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Book Antiqua" pitchFamily="18" charset="0"/>
          <a:ea typeface="Book Antiqua" pitchFamily="18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Book Antiqua" pitchFamily="18" charset="0"/>
          <a:ea typeface="Book Antiqua" pitchFamily="18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Book Antiqua" pitchFamily="18" charset="0"/>
          <a:ea typeface="Book Antiqua" pitchFamily="18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Book Antiqua" pitchFamily="18" charset="0"/>
          <a:ea typeface="Book Antiqua" pitchFamily="18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Book Antiqua" pitchFamily="18" charset="0"/>
          <a:ea typeface="Book Antiqua" pitchFamily="18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hyperlink" Target="mailto:m.dehghani@neu.edu" TargetMode="External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4339" y="1665569"/>
            <a:ext cx="9796861" cy="988731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045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Light ITC" panose="020B0402030504020804" pitchFamily="34" charset="0"/>
                <a:ea typeface="+mj-ea"/>
                <a:cs typeface="Arial"/>
              </a:rPr>
              <a:t>Using a Simulation-Optimization approach to Optimize Patients Scheduling- A Table-Experiment Approach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4339" y="3502080"/>
            <a:ext cx="10670215" cy="1064768"/>
          </a:xfrm>
        </p:spPr>
        <p:txBody>
          <a:bodyPr rtlCol="0">
            <a:normAutofit fontScale="625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Mohammad Dehghani</a:t>
            </a:r>
            <a:r>
              <a:rPr lang="en-US" b="1" baseline="30000" dirty="0">
                <a:solidFill>
                  <a:schemeClr val="tx1"/>
                </a:solidFill>
                <a:latin typeface="Book Antiqua" pitchFamily="18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, Mandana Rezaeiahari</a:t>
            </a:r>
            <a:r>
              <a:rPr lang="en-US" b="1" baseline="30000" dirty="0">
                <a:solidFill>
                  <a:schemeClr val="tx1"/>
                </a:solidFill>
                <a:latin typeface="Book Antiqua" pitchFamily="18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, Thomas keyser</a:t>
            </a:r>
            <a:r>
              <a:rPr lang="en-US" b="1" baseline="30000" dirty="0">
                <a:solidFill>
                  <a:schemeClr val="tx1"/>
                </a:solidFill>
                <a:latin typeface="Book Antiqua" pitchFamily="18" charset="0"/>
              </a:rPr>
              <a:t>3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b="1" baseline="30000" dirty="0">
              <a:solidFill>
                <a:schemeClr val="tx1"/>
              </a:solidFill>
              <a:latin typeface="Book Antiqua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1900" b="1" dirty="0">
                <a:solidFill>
                  <a:schemeClr val="tx1"/>
                </a:solidFill>
                <a:latin typeface="Book Antiqua" pitchFamily="18" charset="0"/>
              </a:rPr>
              <a:t>1. Department of Mechanical and Industrial Engineering, Northeastern University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1900" b="1" dirty="0">
                <a:solidFill>
                  <a:schemeClr val="tx1"/>
                </a:solidFill>
                <a:latin typeface="Book Antiqua" pitchFamily="18" charset="0"/>
              </a:rPr>
              <a:t>2. Department of Systems Science and Industrial Engineering, State University of New </a:t>
            </a:r>
            <a:r>
              <a:rPr lang="en-US" altLang="zh-CN" sz="1900" b="1" dirty="0">
                <a:solidFill>
                  <a:schemeClr val="tx1"/>
                </a:solidFill>
                <a:latin typeface="Book Antiqua" pitchFamily="18" charset="0"/>
              </a:rPr>
              <a:t>York at Binghamton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zh-CN" sz="1900" b="1" dirty="0">
                <a:solidFill>
                  <a:schemeClr val="tx1"/>
                </a:solidFill>
                <a:latin typeface="Book Antiqua" pitchFamily="18" charset="0"/>
              </a:rPr>
              <a:t>3. </a:t>
            </a:r>
            <a:r>
              <a:rPr lang="en-US" sz="1900" b="1" dirty="0">
                <a:solidFill>
                  <a:schemeClr val="tx1"/>
                </a:solidFill>
                <a:latin typeface="Book Antiqua" pitchFamily="18" charset="0"/>
              </a:rPr>
              <a:t>Department of Industrial Engineering and Engineering Management, Western New England University</a:t>
            </a:r>
            <a:endParaRPr lang="en-US" altLang="zh-CN" sz="1900" b="1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35605" y="12962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738717" y="-4119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8791" y="5669867"/>
            <a:ext cx="10734418" cy="932851"/>
            <a:chOff x="896539" y="5669867"/>
            <a:chExt cx="10734418" cy="932851"/>
          </a:xfrm>
        </p:grpSpPr>
        <p:pic>
          <p:nvPicPr>
            <p:cNvPr id="3074" name="Picture 2" descr="Image result for northeastern Universit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539" y="5669867"/>
              <a:ext cx="3758136" cy="541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 descr="Image result for Binghamton University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533"/>
            <a:stretch/>
          </p:blipFill>
          <p:spPr bwMode="auto">
            <a:xfrm>
              <a:off x="4810436" y="5669867"/>
              <a:ext cx="2854761" cy="932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Relat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98" b="29513"/>
            <a:stretch/>
          </p:blipFill>
          <p:spPr bwMode="auto">
            <a:xfrm>
              <a:off x="7820957" y="5669867"/>
              <a:ext cx="3810000" cy="698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110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9907-E609-48F4-A7E6-912EBAF0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MIE Department – Northeastern University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3A9E790-8FAB-43FF-BACF-37000E908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12" y="1150819"/>
            <a:ext cx="3747471" cy="2728159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982E9C-1EB9-45EE-BED9-244C068AE53A}"/>
              </a:ext>
            </a:extLst>
          </p:cNvPr>
          <p:cNvSpPr/>
          <p:nvPr/>
        </p:nvSpPr>
        <p:spPr>
          <a:xfrm>
            <a:off x="899592" y="4169988"/>
            <a:ext cx="101708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Faculty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55 tenured/tenure-track faculty members (2 NAE)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20 teaching/co-op faculty members </a:t>
            </a:r>
          </a:p>
          <a:p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Annual research $13M+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$125M contract order from Veterans Health 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$20M contract order from Army Research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Nine research clusters in the department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E8E68-D49E-4FB4-8618-4E665B8AE47F}"/>
              </a:ext>
            </a:extLst>
          </p:cNvPr>
          <p:cNvSpPr/>
          <p:nvPr/>
        </p:nvSpPr>
        <p:spPr>
          <a:xfrm>
            <a:off x="6409454" y="1127930"/>
            <a:ext cx="526589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NU, private institution, founded in 1898</a:t>
            </a:r>
          </a:p>
          <a:p>
            <a:endParaRPr lang="en-US" sz="9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Mechanical Engineering: </a:t>
            </a:r>
            <a:br>
              <a:rPr lang="en-US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PhD program ranked #39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Industrial Engineering: </a:t>
            </a:r>
            <a:br>
              <a:rPr lang="en-US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PhD program ranked #32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Engineering: </a:t>
            </a:r>
            <a:br>
              <a:rPr lang="en-US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PhD program ranked #39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University:</a:t>
            </a:r>
            <a:br>
              <a:rPr lang="en-US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College program ranked #40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Top-tier co-op university in the U.S. </a:t>
            </a:r>
            <a:b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1300 undergrad and 1300 graduate students in MIE department</a:t>
            </a:r>
          </a:p>
        </p:txBody>
      </p:sp>
    </p:spTree>
    <p:extLst>
      <p:ext uri="{BB962C8B-B14F-4D97-AF65-F5344CB8AC3E}">
        <p14:creationId xmlns:p14="http://schemas.microsoft.com/office/powerpoint/2010/main" val="367964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sz="2200" dirty="0"/>
              <a:t>Problem Statement &amp; Objectives</a:t>
            </a:r>
          </a:p>
          <a:p>
            <a:r>
              <a:rPr lang="en-US" sz="2200" dirty="0"/>
              <a:t>Methodology</a:t>
            </a:r>
          </a:p>
          <a:p>
            <a:pPr lvl="1"/>
            <a:r>
              <a:rPr lang="en-US" dirty="0"/>
              <a:t>Methodology Flowchart</a:t>
            </a:r>
          </a:p>
          <a:p>
            <a:pPr lvl="1"/>
            <a:r>
              <a:rPr lang="en-US" dirty="0"/>
              <a:t>Solution Representation</a:t>
            </a:r>
          </a:p>
          <a:p>
            <a:r>
              <a:rPr lang="en-US" sz="2200" dirty="0"/>
              <a:t>Case Study</a:t>
            </a:r>
          </a:p>
          <a:p>
            <a:pPr lvl="1"/>
            <a:r>
              <a:rPr lang="en-US" dirty="0"/>
              <a:t>Breast Center Overview</a:t>
            </a:r>
          </a:p>
          <a:p>
            <a:pPr lvl="1"/>
            <a:r>
              <a:rPr lang="en-US" dirty="0"/>
              <a:t>Swim Lane Diagram</a:t>
            </a:r>
          </a:p>
          <a:p>
            <a:r>
              <a:rPr lang="en-US" sz="2200" dirty="0"/>
              <a:t>Experimental Design</a:t>
            </a:r>
          </a:p>
          <a:p>
            <a:r>
              <a:rPr lang="en-US" sz="2200" dirty="0"/>
              <a:t>Simulation Model Results</a:t>
            </a:r>
          </a:p>
          <a:p>
            <a:r>
              <a:rPr lang="en-US" sz="2200" dirty="0"/>
              <a:t>Conclusions and Future Work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2" descr="https://pbs.twimg.com/media/DFhBt1EXoAA7yi2.jpg:large">
            <a:extLst>
              <a:ext uri="{FF2B5EF4-FFF2-40B4-BE49-F238E27FC236}">
                <a16:creationId xmlns:a16="http://schemas.microsoft.com/office/drawing/2014/main" id="{DEF8F483-E46A-48E6-A101-EC45DC01A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65" y="2053205"/>
            <a:ext cx="5897399" cy="275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16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  <a:p>
            <a:pPr lvl="1" algn="just"/>
            <a:r>
              <a:rPr lang="en-US" dirty="0"/>
              <a:t>The center is experiencing lack of resources that results in </a:t>
            </a:r>
          </a:p>
          <a:p>
            <a:pPr lvl="2" algn="just"/>
            <a:r>
              <a:rPr lang="en-US" dirty="0"/>
              <a:t>High patients waiting time</a:t>
            </a:r>
          </a:p>
          <a:p>
            <a:pPr lvl="2" algn="just"/>
            <a:r>
              <a:rPr lang="en-US" dirty="0"/>
              <a:t>Need for overtime to be able to handle the demand</a:t>
            </a:r>
          </a:p>
          <a:p>
            <a:pPr lvl="2" algn="just"/>
            <a:r>
              <a:rPr lang="en-US" dirty="0"/>
              <a:t>Some patients are transferred to other days</a:t>
            </a:r>
          </a:p>
          <a:p>
            <a:pPr lvl="2" algn="just"/>
            <a:r>
              <a:rPr lang="en-US" dirty="0"/>
              <a:t>Paperwork is done at home by the doctor</a:t>
            </a:r>
          </a:p>
          <a:p>
            <a:pPr lvl="2" algn="just"/>
            <a:endParaRPr lang="en-US" dirty="0"/>
          </a:p>
          <a:p>
            <a:r>
              <a:rPr lang="en-US" dirty="0"/>
              <a:t>Project’s goals</a:t>
            </a:r>
          </a:p>
          <a:p>
            <a:pPr lvl="1" algn="just"/>
            <a:r>
              <a:rPr lang="en-US" dirty="0"/>
              <a:t>Sequencing patients at a breast cancer center with the goal of minimizing the average time of patients in the system</a:t>
            </a:r>
          </a:p>
        </p:txBody>
      </p:sp>
    </p:spTree>
    <p:extLst>
      <p:ext uri="{BB962C8B-B14F-4D97-AF65-F5344CB8AC3E}">
        <p14:creationId xmlns:p14="http://schemas.microsoft.com/office/powerpoint/2010/main" val="40568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8A49-4655-4A84-B8AA-DB3D7C4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E608-DC63-49E5-9385-371047F7B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Appointment scheduling is a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challenging task</a:t>
            </a:r>
            <a:r>
              <a:rPr lang="en-US" dirty="0"/>
              <a:t>, mainly due to the uncertainties associated with service times [1].</a:t>
            </a:r>
          </a:p>
          <a:p>
            <a:endParaRPr lang="en-US" sz="1000" dirty="0"/>
          </a:p>
          <a:p>
            <a:pPr lvl="1"/>
            <a:r>
              <a:rPr lang="en-US" dirty="0"/>
              <a:t>Timely access is important for realizing good medical outcomes. </a:t>
            </a:r>
          </a:p>
          <a:p>
            <a:pPr lvl="1"/>
            <a:r>
              <a:rPr lang="en-US" dirty="0"/>
              <a:t>It is also an important determinant of patient satisfaction. </a:t>
            </a:r>
          </a:p>
          <a:p>
            <a:pPr lvl="1"/>
            <a:endParaRPr lang="en-US" dirty="0"/>
          </a:p>
          <a:p>
            <a:r>
              <a:rPr lang="en-US" dirty="0"/>
              <a:t>The focus of this article is on </a:t>
            </a:r>
            <a: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Appointment Scheduling Optimization </a:t>
            </a:r>
            <a:r>
              <a:rPr lang="en-US" dirty="0"/>
              <a:t>in a healthcare system.</a:t>
            </a:r>
          </a:p>
          <a:p>
            <a:endParaRPr lang="en-US" dirty="0"/>
          </a:p>
          <a:p>
            <a:r>
              <a:rPr lang="en-US" dirty="0"/>
              <a:t> We do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consider system improvement aspects of the system such as the size of facilities, equipment and staff, and to resource allocation</a:t>
            </a:r>
          </a:p>
        </p:txBody>
      </p:sp>
      <p:pic>
        <p:nvPicPr>
          <p:cNvPr id="2052" name="Picture 4" descr="https://pbs.twimg.com/media/C2ylYXCUoAAidZd.jpg:large">
            <a:extLst>
              <a:ext uri="{FF2B5EF4-FFF2-40B4-BE49-F238E27FC236}">
                <a16:creationId xmlns:a16="http://schemas.microsoft.com/office/drawing/2014/main" id="{D782994D-2D1D-48D5-A4ED-4FD70A028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652" y="3121551"/>
            <a:ext cx="6846696" cy="319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45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6D44-33DC-4A8E-B077-66FE535B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A800E-1D3C-4F8B-A1ED-1AD47854B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Simheuristics table-experiment framework</a:t>
            </a:r>
          </a:p>
          <a:p>
            <a:pPr lvl="1"/>
            <a:r>
              <a:rPr lang="en-US" dirty="0"/>
              <a:t>Simulation optimization framework to run simulations by changing table of variables</a:t>
            </a:r>
          </a:p>
          <a:p>
            <a:pPr lvl="1"/>
            <a:r>
              <a:rPr lang="en-US" dirty="0"/>
              <a:t>Simulated Annealing (SA) used to provide new solution at each iteration in MATLAB</a:t>
            </a:r>
          </a:p>
          <a:p>
            <a:pPr lvl="1"/>
            <a:r>
              <a:rPr lang="en-US" dirty="0"/>
              <a:t> Solutions are stored in Excel then used by Simio as input </a:t>
            </a:r>
          </a:p>
          <a:p>
            <a:pPr lvl="1"/>
            <a:r>
              <a:rPr lang="en-US" dirty="0"/>
              <a:t>Output of simulation is fed into SA for the next iteration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76519-5E19-4E3B-B5BB-3BAE2115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953" y="4006563"/>
            <a:ext cx="3695700" cy="2114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9F6B98-34C4-4BDC-BDE0-145C55BEA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380" y="3755891"/>
            <a:ext cx="4348293" cy="252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4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14D9-EE65-4790-A5F7-07EF9CC9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Simheuristic Approach</a:t>
            </a:r>
          </a:p>
        </p:txBody>
      </p:sp>
      <p:pic>
        <p:nvPicPr>
          <p:cNvPr id="4" name="B/W  Framework">
            <a:extLst>
              <a:ext uri="{FF2B5EF4-FFF2-40B4-BE49-F238E27FC236}">
                <a16:creationId xmlns:a16="http://schemas.microsoft.com/office/drawing/2014/main" id="{4018A4F1-1B19-4220-A6E1-86345BFAD43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5512" y="1832006"/>
            <a:ext cx="10193395" cy="3651821"/>
          </a:xfrm>
          <a:prstGeom prst="rect">
            <a:avLst/>
          </a:prstGeom>
        </p:spPr>
      </p:pic>
      <p:pic>
        <p:nvPicPr>
          <p:cNvPr id="5" name="Colored of Framework">
            <a:extLst>
              <a:ext uri="{FF2B5EF4-FFF2-40B4-BE49-F238E27FC236}">
                <a16:creationId xmlns:a16="http://schemas.microsoft.com/office/drawing/2014/main" id="{6019E911-400C-443F-97C9-F96B919E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984" y="1823128"/>
            <a:ext cx="10193395" cy="365182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B51D689-E29D-4943-984C-DAD776F1944A}"/>
              </a:ext>
            </a:extLst>
          </p:cNvPr>
          <p:cNvGrpSpPr/>
          <p:nvPr/>
        </p:nvGrpSpPr>
        <p:grpSpPr>
          <a:xfrm>
            <a:off x="1261862" y="1832006"/>
            <a:ext cx="2707640" cy="3154680"/>
            <a:chOff x="939800" y="787400"/>
            <a:chExt cx="2707640" cy="3154680"/>
          </a:xfrm>
          <a:effectLst>
            <a:glow rad="101600">
              <a:schemeClr val="accent1">
                <a:satMod val="175000"/>
                <a:alpha val="40000"/>
              </a:schemeClr>
            </a:glow>
          </a:effectLst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E48EF8-025D-4E2F-8C0A-DC492C167A9A}"/>
                </a:ext>
              </a:extLst>
            </p:cNvPr>
            <p:cNvGrpSpPr/>
            <p:nvPr/>
          </p:nvGrpSpPr>
          <p:grpSpPr>
            <a:xfrm>
              <a:off x="939800" y="787400"/>
              <a:ext cx="2707640" cy="3154680"/>
              <a:chOff x="939800" y="787400"/>
              <a:chExt cx="2707640" cy="3154680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BD72340-6DAB-4AF2-96B6-BC94075EE240}"/>
                  </a:ext>
                </a:extLst>
              </p:cNvPr>
              <p:cNvSpPr/>
              <p:nvPr/>
            </p:nvSpPr>
            <p:spPr>
              <a:xfrm>
                <a:off x="939800" y="787400"/>
                <a:ext cx="2707640" cy="1117600"/>
              </a:xfrm>
              <a:prstGeom prst="roundRect">
                <a:avLst/>
              </a:prstGeom>
              <a:solidFill>
                <a:srgbClr val="93D6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F27EF17-9724-4EC1-B1E3-6C54F86DDC76}"/>
                  </a:ext>
                </a:extLst>
              </p:cNvPr>
              <p:cNvSpPr/>
              <p:nvPr/>
            </p:nvSpPr>
            <p:spPr>
              <a:xfrm>
                <a:off x="939800" y="1218500"/>
                <a:ext cx="2707640" cy="272358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2880"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Metaheuristic Algorithm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8293D8F-0632-4A7D-9E22-00BB5E684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6092" y="1986280"/>
              <a:ext cx="1835055" cy="184115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B807D5-2853-4471-A094-966CCDCC6C16}"/>
              </a:ext>
            </a:extLst>
          </p:cNvPr>
          <p:cNvGrpSpPr/>
          <p:nvPr/>
        </p:nvGrpSpPr>
        <p:grpSpPr>
          <a:xfrm>
            <a:off x="8733435" y="1832006"/>
            <a:ext cx="2707640" cy="3154680"/>
            <a:chOff x="8411373" y="787400"/>
            <a:chExt cx="2707640" cy="3154680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06337F6-DE6E-45AC-B032-F9BEF6F4FB9E}"/>
                </a:ext>
              </a:extLst>
            </p:cNvPr>
            <p:cNvGrpSpPr/>
            <p:nvPr/>
          </p:nvGrpSpPr>
          <p:grpSpPr>
            <a:xfrm>
              <a:off x="8411373" y="787400"/>
              <a:ext cx="2707640" cy="3154680"/>
              <a:chOff x="6607798" y="1905000"/>
              <a:chExt cx="2707640" cy="3154680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4A66604-4ECC-4474-907F-809AA0A691F0}"/>
                  </a:ext>
                </a:extLst>
              </p:cNvPr>
              <p:cNvSpPr/>
              <p:nvPr/>
            </p:nvSpPr>
            <p:spPr>
              <a:xfrm>
                <a:off x="6607798" y="1905000"/>
                <a:ext cx="2707640" cy="1117600"/>
              </a:xfrm>
              <a:prstGeom prst="roundRect">
                <a:avLst/>
              </a:prstGeom>
              <a:solidFill>
                <a:srgbClr val="A1F9CD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64353050-20C6-442E-9CC7-272849D7A4FA}"/>
                  </a:ext>
                </a:extLst>
              </p:cNvPr>
              <p:cNvSpPr/>
              <p:nvPr/>
            </p:nvSpPr>
            <p:spPr>
              <a:xfrm>
                <a:off x="6607798" y="2336100"/>
                <a:ext cx="2707640" cy="272358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2880"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Replications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14867AC-66C5-4A46-A807-45E7CFEA1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81955" y="1986280"/>
              <a:ext cx="1835055" cy="184115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4AD073-CA10-42A6-A48C-99B990CB6347}"/>
              </a:ext>
            </a:extLst>
          </p:cNvPr>
          <p:cNvGrpSpPr/>
          <p:nvPr/>
        </p:nvGrpSpPr>
        <p:grpSpPr>
          <a:xfrm>
            <a:off x="3900922" y="2397394"/>
            <a:ext cx="4901093" cy="687059"/>
            <a:chOff x="3578860" y="1352788"/>
            <a:chExt cx="4901093" cy="687059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2F7B991-E1F0-4E18-AE66-9B5511BD0507}"/>
                </a:ext>
              </a:extLst>
            </p:cNvPr>
            <p:cNvGrpSpPr/>
            <p:nvPr/>
          </p:nvGrpSpPr>
          <p:grpSpPr>
            <a:xfrm>
              <a:off x="3578860" y="1831982"/>
              <a:ext cx="4901093" cy="137160"/>
              <a:chOff x="3578860" y="1831982"/>
              <a:chExt cx="4901093" cy="13716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C084948-B477-4489-A539-0DE426909310}"/>
                  </a:ext>
                </a:extLst>
              </p:cNvPr>
              <p:cNvGrpSpPr/>
              <p:nvPr/>
            </p:nvGrpSpPr>
            <p:grpSpPr>
              <a:xfrm>
                <a:off x="3578860" y="1831982"/>
                <a:ext cx="4901093" cy="137160"/>
                <a:chOff x="3578860" y="1831982"/>
                <a:chExt cx="4901093" cy="137160"/>
              </a:xfrm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A123FEC7-3E3F-4765-8F4B-F73C14D4AC5B}"/>
                    </a:ext>
                  </a:extLst>
                </p:cNvPr>
                <p:cNvSpPr/>
                <p:nvPr/>
              </p:nvSpPr>
              <p:spPr>
                <a:xfrm>
                  <a:off x="3578860" y="1831982"/>
                  <a:ext cx="137160" cy="13716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3772601F-8A6E-48A7-8F9C-832000E91B65}"/>
                    </a:ext>
                  </a:extLst>
                </p:cNvPr>
                <p:cNvSpPr/>
                <p:nvPr/>
              </p:nvSpPr>
              <p:spPr>
                <a:xfrm>
                  <a:off x="8342793" y="1831982"/>
                  <a:ext cx="137160" cy="137160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8F9F8AB-4B90-48F1-90D5-6A34994114C8}"/>
                  </a:ext>
                </a:extLst>
              </p:cNvPr>
              <p:cNvCxnSpPr>
                <a:stCxn id="23" idx="3"/>
                <a:endCxn id="24" idx="1"/>
              </p:cNvCxnSpPr>
              <p:nvPr/>
            </p:nvCxnSpPr>
            <p:spPr>
              <a:xfrm>
                <a:off x="3716020" y="1900562"/>
                <a:ext cx="4626773" cy="0"/>
              </a:xfrm>
              <a:prstGeom prst="straightConnector1">
                <a:avLst/>
              </a:prstGeom>
              <a:ln w="88900">
                <a:solidFill>
                  <a:srgbClr val="93D6F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3CF1683-2AAE-4856-82EE-06CC709717AA}"/>
                </a:ext>
              </a:extLst>
            </p:cNvPr>
            <p:cNvGrpSpPr/>
            <p:nvPr/>
          </p:nvGrpSpPr>
          <p:grpSpPr>
            <a:xfrm>
              <a:off x="4230449" y="1352788"/>
              <a:ext cx="3597915" cy="687059"/>
              <a:chOff x="4083732" y="1352788"/>
              <a:chExt cx="3597915" cy="687059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B8B3C10-7C22-44EA-B37C-0EFB3F339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3732" y="1761277"/>
                <a:ext cx="3597915" cy="278570"/>
              </a:xfrm>
              <a:prstGeom prst="rect">
                <a:avLst/>
              </a:prstGeom>
            </p:spPr>
          </p:pic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C727128-EA94-4DE4-81A7-414DA9D17E65}"/>
                  </a:ext>
                </a:extLst>
              </p:cNvPr>
              <p:cNvSpPr/>
              <p:nvPr/>
            </p:nvSpPr>
            <p:spPr>
              <a:xfrm>
                <a:off x="5204277" y="1352788"/>
                <a:ext cx="1356823" cy="40848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B88CE22-26EE-49D9-A353-EB53D7C42512}"/>
              </a:ext>
            </a:extLst>
          </p:cNvPr>
          <p:cNvGrpSpPr/>
          <p:nvPr/>
        </p:nvGrpSpPr>
        <p:grpSpPr>
          <a:xfrm>
            <a:off x="3900922" y="4062299"/>
            <a:ext cx="4901093" cy="1062035"/>
            <a:chOff x="3578860" y="3017693"/>
            <a:chExt cx="4901093" cy="1062035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91B3324-DBE9-4B17-852A-F8A006A3204D}"/>
                </a:ext>
              </a:extLst>
            </p:cNvPr>
            <p:cNvGrpSpPr/>
            <p:nvPr/>
          </p:nvGrpSpPr>
          <p:grpSpPr>
            <a:xfrm>
              <a:off x="3578860" y="3285663"/>
              <a:ext cx="4901093" cy="137160"/>
              <a:chOff x="3578860" y="3285663"/>
              <a:chExt cx="4901093" cy="13716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8C8521D-49A1-4A5F-96A8-4AD65A7ABAAB}"/>
                  </a:ext>
                </a:extLst>
              </p:cNvPr>
              <p:cNvGrpSpPr/>
              <p:nvPr/>
            </p:nvGrpSpPr>
            <p:grpSpPr>
              <a:xfrm>
                <a:off x="3578860" y="3285663"/>
                <a:ext cx="4901093" cy="137160"/>
                <a:chOff x="3578860" y="1831982"/>
                <a:chExt cx="4901093" cy="137160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35D3E8DA-4694-45CD-97BF-6CD1F2906496}"/>
                    </a:ext>
                  </a:extLst>
                </p:cNvPr>
                <p:cNvSpPr/>
                <p:nvPr/>
              </p:nvSpPr>
              <p:spPr>
                <a:xfrm>
                  <a:off x="3578860" y="1831982"/>
                  <a:ext cx="137160" cy="137160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5F1D5319-1B58-482D-8EDF-2FEE0F714491}"/>
                    </a:ext>
                  </a:extLst>
                </p:cNvPr>
                <p:cNvSpPr/>
                <p:nvPr/>
              </p:nvSpPr>
              <p:spPr>
                <a:xfrm>
                  <a:off x="8342793" y="1831982"/>
                  <a:ext cx="137160" cy="13716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C843D61-6C25-4C80-840A-5F11A7A7B885}"/>
                  </a:ext>
                </a:extLst>
              </p:cNvPr>
              <p:cNvCxnSpPr>
                <a:stCxn id="33" idx="1"/>
                <a:endCxn id="32" idx="3"/>
              </p:cNvCxnSpPr>
              <p:nvPr/>
            </p:nvCxnSpPr>
            <p:spPr>
              <a:xfrm flipH="1">
                <a:off x="3716020" y="3354243"/>
                <a:ext cx="4626773" cy="0"/>
              </a:xfrm>
              <a:prstGeom prst="straightConnector1">
                <a:avLst/>
              </a:prstGeom>
              <a:ln w="88900">
                <a:solidFill>
                  <a:srgbClr val="93D6F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8A4B6D-05F1-4272-8642-7F3329F2A346}"/>
                </a:ext>
              </a:extLst>
            </p:cNvPr>
            <p:cNvGrpSpPr/>
            <p:nvPr/>
          </p:nvGrpSpPr>
          <p:grpSpPr>
            <a:xfrm>
              <a:off x="4648453" y="3017693"/>
              <a:ext cx="2761907" cy="1062035"/>
              <a:chOff x="4648453" y="3017693"/>
              <a:chExt cx="2761907" cy="1062035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A834DB1-0794-40B6-8E00-9E5648EA4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3743" y="3017693"/>
                <a:ext cx="2291326" cy="673099"/>
              </a:xfrm>
              <a:prstGeom prst="rect">
                <a:avLst/>
              </a:prstGeom>
            </p:spPr>
          </p:pic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ADA766A8-C495-4BA6-8489-EC69B12E83CE}"/>
                  </a:ext>
                </a:extLst>
              </p:cNvPr>
              <p:cNvSpPr/>
              <p:nvPr/>
            </p:nvSpPr>
            <p:spPr>
              <a:xfrm>
                <a:off x="4648453" y="3671239"/>
                <a:ext cx="2761907" cy="40848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Estimated Objective Function Value</a:t>
                </a:r>
              </a:p>
            </p:txBody>
          </p:sp>
        </p:grpSp>
      </p:grp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87DF38D4-F9E5-4293-8030-F5B191192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76" y="1650775"/>
            <a:ext cx="4242923" cy="4475389"/>
          </a:xfrm>
        </p:spPr>
        <p:txBody>
          <a:bodyPr/>
          <a:lstStyle/>
          <a:p>
            <a:r>
              <a:rPr lang="en-US" dirty="0"/>
              <a:t>Capabilities</a:t>
            </a:r>
          </a:p>
          <a:p>
            <a:pPr lvl="1"/>
            <a:r>
              <a:rPr lang="en-US" dirty="0"/>
              <a:t>Disc., Continues Variables (Controls)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Limitations</a:t>
            </a:r>
          </a:p>
          <a:p>
            <a:pPr lvl="1"/>
            <a:r>
              <a:rPr lang="en-US" dirty="0"/>
              <a:t>Table-Experiments</a:t>
            </a:r>
          </a:p>
          <a:p>
            <a:pPr lvl="2"/>
            <a:r>
              <a:rPr lang="en-US" dirty="0"/>
              <a:t>Arrival table</a:t>
            </a:r>
          </a:p>
          <a:p>
            <a:pPr lvl="2"/>
            <a:r>
              <a:rPr lang="en-US" dirty="0"/>
              <a:t>Production-mix table</a:t>
            </a:r>
          </a:p>
          <a:p>
            <a:pPr lvl="2"/>
            <a:r>
              <a:rPr lang="en-US" dirty="0"/>
              <a:t>Sequence table</a:t>
            </a:r>
          </a:p>
          <a:p>
            <a:pPr lvl="2"/>
            <a:r>
              <a:rPr lang="en-US" dirty="0"/>
              <a:t>Supplier mix Table</a:t>
            </a:r>
          </a:p>
        </p:txBody>
      </p:sp>
    </p:spTree>
    <p:extLst>
      <p:ext uri="{BB962C8B-B14F-4D97-AF65-F5344CB8AC3E}">
        <p14:creationId xmlns:p14="http://schemas.microsoft.com/office/powerpoint/2010/main" val="249611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44444E-6 L -0.21002 -0.07662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08" y="-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7AFA-9288-4938-947C-1E985614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142C-1A2A-4DCE-8B28-C43543104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 representation</a:t>
            </a:r>
          </a:p>
          <a:p>
            <a:pPr lvl="1"/>
            <a:r>
              <a:rPr lang="en-US" dirty="0"/>
              <a:t>Ratio of follow-up to consult patients 2:1</a:t>
            </a: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Block-booking</a:t>
            </a:r>
            <a:r>
              <a:rPr lang="en-US" dirty="0"/>
              <a:t> strategy with fixed 20 minutes block</a:t>
            </a:r>
          </a:p>
          <a:p>
            <a:pPr lvl="1"/>
            <a:r>
              <a:rPr lang="en-US" dirty="0"/>
              <a:t>Order of patients is a typical solution of SA</a:t>
            </a:r>
          </a:p>
          <a:p>
            <a:pPr lvl="1"/>
            <a:r>
              <a:rPr lang="en-US" dirty="0"/>
              <a:t>Change order of patients randomly to improve patient length of stay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28A6E-2DD6-41C5-8436-4E85E234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2" y="3263695"/>
            <a:ext cx="4333875" cy="3200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870596-F3DE-4F40-9802-7503DBD74C4E}"/>
              </a:ext>
            </a:extLst>
          </p:cNvPr>
          <p:cNvSpPr/>
          <p:nvPr/>
        </p:nvSpPr>
        <p:spPr>
          <a:xfrm>
            <a:off x="4234478" y="3912669"/>
            <a:ext cx="3754203" cy="539015"/>
          </a:xfrm>
          <a:prstGeom prst="roundRect">
            <a:avLst/>
          </a:prstGeom>
          <a:solidFill>
            <a:srgbClr val="E1F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2025B2-BD6E-4E59-BB64-AB89DADB0299}"/>
              </a:ext>
            </a:extLst>
          </p:cNvPr>
          <p:cNvSpPr/>
          <p:nvPr/>
        </p:nvSpPr>
        <p:spPr>
          <a:xfrm>
            <a:off x="4234478" y="4451684"/>
            <a:ext cx="3754203" cy="648974"/>
          </a:xfrm>
          <a:prstGeom prst="roundRect">
            <a:avLst/>
          </a:prstGeom>
          <a:solidFill>
            <a:srgbClr val="E1F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985F76-907A-4D30-AD04-A5C732E7C87F}"/>
              </a:ext>
            </a:extLst>
          </p:cNvPr>
          <p:cNvSpPr/>
          <p:nvPr/>
        </p:nvSpPr>
        <p:spPr>
          <a:xfrm>
            <a:off x="4156668" y="5023656"/>
            <a:ext cx="3905934" cy="1304955"/>
          </a:xfrm>
          <a:prstGeom prst="roundRect">
            <a:avLst/>
          </a:prstGeom>
          <a:solidFill>
            <a:srgbClr val="E1F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3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Breast Center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Binghamton, NY</a:t>
            </a:r>
          </a:p>
          <a:p>
            <a:r>
              <a:rPr lang="en-US" dirty="0"/>
              <a:t>Staff</a:t>
            </a:r>
          </a:p>
          <a:p>
            <a:pPr lvl="1"/>
            <a:r>
              <a:rPr lang="en-US" dirty="0"/>
              <a:t>2 Medical Office Assistant</a:t>
            </a:r>
          </a:p>
          <a:p>
            <a:pPr lvl="1"/>
            <a:r>
              <a:rPr lang="en-US" dirty="0"/>
              <a:t>1 Physician</a:t>
            </a:r>
          </a:p>
          <a:p>
            <a:r>
              <a:rPr lang="en-US" dirty="0"/>
              <a:t>Available rooms in the Center</a:t>
            </a:r>
          </a:p>
          <a:p>
            <a:pPr lvl="1"/>
            <a:r>
              <a:rPr lang="en-US" dirty="0"/>
              <a:t>2 rooms: intake process</a:t>
            </a:r>
          </a:p>
          <a:p>
            <a:pPr lvl="1"/>
            <a:r>
              <a:rPr lang="en-US" dirty="0"/>
              <a:t>1 room: follow-up</a:t>
            </a:r>
          </a:p>
          <a:p>
            <a:pPr lvl="1"/>
            <a:r>
              <a:rPr lang="en-US" dirty="0"/>
              <a:t>1 room: consultation</a:t>
            </a:r>
          </a:p>
          <a:p>
            <a:pPr lvl="1"/>
            <a:r>
              <a:rPr lang="en-US" dirty="0"/>
              <a:t>1 room: biopsy</a:t>
            </a:r>
          </a:p>
          <a:p>
            <a:r>
              <a:rPr lang="en-US" dirty="0"/>
              <a:t>Patients volume (demand at Breast Center)</a:t>
            </a:r>
          </a:p>
          <a:p>
            <a:pPr lvl="1"/>
            <a:r>
              <a:rPr lang="en-US" dirty="0"/>
              <a:t>Total No. of patients seen in 2014: 914</a:t>
            </a:r>
          </a:p>
          <a:p>
            <a:pPr lvl="1"/>
            <a:r>
              <a:rPr lang="en-US" dirty="0"/>
              <a:t>Total No. of patients seen in 2015: 1,654</a:t>
            </a:r>
          </a:p>
          <a:p>
            <a:pPr lvl="1"/>
            <a:r>
              <a:rPr lang="en-US" dirty="0"/>
              <a:t>Number of working hours: 7 hours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2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Swim Lane Diagram – Breast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28" y="1175143"/>
            <a:ext cx="8879253" cy="510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5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Current scheduling strategy: First-In First-Out (FIFO)</a:t>
            </a:r>
          </a:p>
          <a:p>
            <a:r>
              <a:rPr lang="en-US" sz="2000" dirty="0"/>
              <a:t>Distribution of sub-processes were provided based on the director’s opinion</a:t>
            </a:r>
          </a:p>
          <a:p>
            <a:r>
              <a:rPr lang="en-US" sz="2000" dirty="0"/>
              <a:t>Effectiveness of proposed simheuristic schedule is compared to five heuristic schedules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80993"/>
              </p:ext>
            </p:extLst>
          </p:nvPr>
        </p:nvGraphicFramePr>
        <p:xfrm>
          <a:off x="609599" y="2249454"/>
          <a:ext cx="4651513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2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Book Antiqua" panose="02040602050305030304" pitchFamily="18" charset="0"/>
                        </a:rPr>
                        <a:t>Sub-process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Book Antiqua" panose="02040602050305030304" pitchFamily="18" charset="0"/>
                        </a:rPr>
                        <a:t>Distribution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Intake Process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Triangular (10,12,17)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Follow–up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Triangular (10,15,20)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Consultation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Triangular (14,20,26)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Biopsy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Triangular (15,17,30)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CA1B218-453B-4785-B13C-E74ABA221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47" b="24308"/>
          <a:stretch/>
        </p:blipFill>
        <p:spPr>
          <a:xfrm>
            <a:off x="4769264" y="3932153"/>
            <a:ext cx="7289524" cy="2352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FA6A3B-3E70-414F-9F07-160C65DA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355" y="5573715"/>
            <a:ext cx="1676400" cy="70485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FE949E-F1E6-448C-86A3-16C63BEA9623}"/>
              </a:ext>
            </a:extLst>
          </p:cNvPr>
          <p:cNvCxnSpPr/>
          <p:nvPr/>
        </p:nvCxnSpPr>
        <p:spPr>
          <a:xfrm>
            <a:off x="6155359" y="4706755"/>
            <a:ext cx="0" cy="153041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DE9151C-A393-46BD-BB0D-646D31FC6552}"/>
              </a:ext>
            </a:extLst>
          </p:cNvPr>
          <p:cNvGrpSpPr/>
          <p:nvPr/>
        </p:nvGrpSpPr>
        <p:grpSpPr>
          <a:xfrm>
            <a:off x="3790911" y="3991192"/>
            <a:ext cx="2906456" cy="810433"/>
            <a:chOff x="3790911" y="3991192"/>
            <a:chExt cx="2906456" cy="810433"/>
          </a:xfrm>
        </p:grpSpPr>
        <p:pic>
          <p:nvPicPr>
            <p:cNvPr id="9" name="Picture 8" descr="Image result for straight arrow">
              <a:extLst>
                <a:ext uri="{FF2B5EF4-FFF2-40B4-BE49-F238E27FC236}">
                  <a16:creationId xmlns:a16="http://schemas.microsoft.com/office/drawing/2014/main" id="{5DB3D29B-1889-41C5-BDDB-9A9E4C0DFD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5789">
              <a:off x="3790911" y="3991192"/>
              <a:ext cx="1620865" cy="810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ounded Rectangle 14">
              <a:extLst>
                <a:ext uri="{FF2B5EF4-FFF2-40B4-BE49-F238E27FC236}">
                  <a16:creationId xmlns:a16="http://schemas.microsoft.com/office/drawing/2014/main" id="{D6E54F8B-211B-4BB6-897D-E42E5A286E35}"/>
                </a:ext>
              </a:extLst>
            </p:cNvPr>
            <p:cNvSpPr/>
            <p:nvPr/>
          </p:nvSpPr>
          <p:spPr>
            <a:xfrm>
              <a:off x="5568102" y="4302535"/>
              <a:ext cx="1129265" cy="293211"/>
            </a:xfrm>
            <a:prstGeom prst="roundRect">
              <a:avLst/>
            </a:prstGeom>
            <a:solidFill>
              <a:srgbClr val="F04267">
                <a:alpha val="18824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390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Model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92" y="1314355"/>
            <a:ext cx="8071986" cy="340548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064769"/>
            <a:ext cx="2417805" cy="759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27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31F2-480A-49BE-AFF3-15EEC3EC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Model Results –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3552F-21FC-4917-8355-FBEC9647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length of stay (LOS) as response variable </a:t>
            </a:r>
          </a:p>
          <a:p>
            <a:r>
              <a:rPr lang="en-US" dirty="0"/>
              <a:t>30 replications</a:t>
            </a:r>
          </a:p>
          <a:p>
            <a:r>
              <a:rPr lang="en-US" dirty="0"/>
              <a:t>"Select Best Scenario using KN"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C1F43-4CE6-45AF-9562-88AA3B287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244" y="2954339"/>
            <a:ext cx="6467475" cy="3171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243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31F2-480A-49BE-AFF3-15EEC3EC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Extension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923BE3B-D7B9-4D15-8EC3-B1AAF8EA176E}"/>
              </a:ext>
            </a:extLst>
          </p:cNvPr>
          <p:cNvGrpSpPr/>
          <p:nvPr/>
        </p:nvGrpSpPr>
        <p:grpSpPr>
          <a:xfrm>
            <a:off x="360673" y="1264204"/>
            <a:ext cx="3246120" cy="4860435"/>
            <a:chOff x="360673" y="1847211"/>
            <a:chExt cx="3246120" cy="4860435"/>
          </a:xfrm>
        </p:grpSpPr>
        <p:pic>
          <p:nvPicPr>
            <p:cNvPr id="6148" name="Picture 4" descr="Image result for Options infographic">
              <a:extLst>
                <a:ext uri="{FF2B5EF4-FFF2-40B4-BE49-F238E27FC236}">
                  <a16:creationId xmlns:a16="http://schemas.microsoft.com/office/drawing/2014/main" id="{77DA3943-1401-49C0-A785-BFB9D14EA7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35" t="33300" r="64330" b="31648"/>
            <a:stretch/>
          </p:blipFill>
          <p:spPr bwMode="auto">
            <a:xfrm>
              <a:off x="1536253" y="2368848"/>
              <a:ext cx="881330" cy="1419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45A6DC5-A26E-482D-AB71-508A55B290CB}"/>
                </a:ext>
              </a:extLst>
            </p:cNvPr>
            <p:cNvSpPr/>
            <p:nvPr/>
          </p:nvSpPr>
          <p:spPr>
            <a:xfrm>
              <a:off x="360673" y="1847211"/>
              <a:ext cx="3246120" cy="5339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71D00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71D00B"/>
                  </a:solidFill>
                  <a:latin typeface="Book Antiqua" panose="02040602050305030304" pitchFamily="18" charset="0"/>
                </a:rPr>
                <a:t>Block-booking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28CD33E-C966-4E15-97DC-F7B934DB8432}"/>
                </a:ext>
              </a:extLst>
            </p:cNvPr>
            <p:cNvSpPr/>
            <p:nvPr/>
          </p:nvSpPr>
          <p:spPr>
            <a:xfrm>
              <a:off x="507962" y="3882680"/>
              <a:ext cx="2974735" cy="2824966"/>
            </a:xfrm>
            <a:prstGeom prst="roundRect">
              <a:avLst>
                <a:gd name="adj" fmla="val 13999"/>
              </a:avLst>
            </a:prstGeom>
            <a:solidFill>
              <a:schemeClr val="bg1"/>
            </a:solidFill>
            <a:ln>
              <a:solidFill>
                <a:srgbClr val="71D00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b="1" dirty="0">
                  <a:solidFill>
                    <a:srgbClr val="D64C00"/>
                  </a:solidFill>
                  <a:latin typeface="Book Antiqua" panose="02040602050305030304" pitchFamily="18" charset="0"/>
                </a:rPr>
                <a:t>Fixed</a:t>
              </a:r>
              <a:r>
                <a:rPr lang="en-US" b="1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Time Slot</a:t>
              </a:r>
            </a:p>
            <a:p>
              <a:pPr algn="ctr"/>
              <a:endParaRPr lang="en-US" b="1" dirty="0">
                <a:solidFill>
                  <a:schemeClr val="tx1"/>
                </a:solidFill>
                <a:latin typeface="Book Antiqua" panose="0204060205030503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</a:t>
              </a:r>
              <a:r>
                <a:rPr lang="en-US" b="1" dirty="0">
                  <a:solidFill>
                    <a:srgbClr val="1393B1"/>
                  </a:solidFill>
                  <a:latin typeface="Book Antiqua" panose="02040602050305030304" pitchFamily="18" charset="0"/>
                </a:rPr>
                <a:t>Fixed 20 mins Time-slots</a:t>
              </a:r>
            </a:p>
          </p:txBody>
        </p:sp>
        <p:pic>
          <p:nvPicPr>
            <p:cNvPr id="12" name="Picture 4" descr="Image result for Options infographic">
              <a:extLst>
                <a:ext uri="{FF2B5EF4-FFF2-40B4-BE49-F238E27FC236}">
                  <a16:creationId xmlns:a16="http://schemas.microsoft.com/office/drawing/2014/main" id="{521F4EF0-2B87-424A-AB1C-1253F46B51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35" t="33300" r="64330" b="62458"/>
            <a:stretch/>
          </p:blipFill>
          <p:spPr bwMode="auto">
            <a:xfrm flipV="1">
              <a:off x="1539323" y="3698570"/>
              <a:ext cx="881330" cy="17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CD45E2-5B48-44A6-959F-9762E6A5C042}"/>
              </a:ext>
            </a:extLst>
          </p:cNvPr>
          <p:cNvGrpSpPr/>
          <p:nvPr/>
        </p:nvGrpSpPr>
        <p:grpSpPr>
          <a:xfrm>
            <a:off x="4282439" y="1245794"/>
            <a:ext cx="3243358" cy="4878845"/>
            <a:chOff x="349806" y="1847211"/>
            <a:chExt cx="3243358" cy="4878845"/>
          </a:xfrm>
        </p:grpSpPr>
        <p:pic>
          <p:nvPicPr>
            <p:cNvPr id="15" name="Picture 4" descr="Image result for Options infographic">
              <a:extLst>
                <a:ext uri="{FF2B5EF4-FFF2-40B4-BE49-F238E27FC236}">
                  <a16:creationId xmlns:a16="http://schemas.microsoft.com/office/drawing/2014/main" id="{6C45BCEE-266D-45E8-8587-1AC34A04BB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411" t="32374" r="46354" b="32574"/>
            <a:stretch/>
          </p:blipFill>
          <p:spPr bwMode="auto">
            <a:xfrm>
              <a:off x="1536253" y="2368848"/>
              <a:ext cx="881330" cy="1419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10385A2-DAF6-4C87-B581-7DBEBC581DE4}"/>
                </a:ext>
              </a:extLst>
            </p:cNvPr>
            <p:cNvSpPr/>
            <p:nvPr/>
          </p:nvSpPr>
          <p:spPr>
            <a:xfrm>
              <a:off x="349806" y="1847211"/>
              <a:ext cx="3243358" cy="5339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07B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  <a:latin typeface="Book Antiqua" panose="02040602050305030304" pitchFamily="18" charset="0"/>
                </a:rPr>
                <a:t>Semi</a:t>
              </a:r>
              <a:r>
                <a:rPr lang="en-US" b="1" dirty="0">
                  <a:solidFill>
                    <a:srgbClr val="07BA8C"/>
                  </a:solidFill>
                  <a:latin typeface="Book Antiqua" panose="02040602050305030304" pitchFamily="18" charset="0"/>
                </a:rPr>
                <a:t> Nonblocked-booking</a:t>
              </a:r>
            </a:p>
          </p:txBody>
        </p:sp>
        <p:pic>
          <p:nvPicPr>
            <p:cNvPr id="18" name="Picture 4" descr="Image result for Options infographic">
              <a:extLst>
                <a:ext uri="{FF2B5EF4-FFF2-40B4-BE49-F238E27FC236}">
                  <a16:creationId xmlns:a16="http://schemas.microsoft.com/office/drawing/2014/main" id="{CBF891EE-ADA2-4D66-9F1E-CCDDA30D12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241" t="32223" r="46524" b="63535"/>
            <a:stretch/>
          </p:blipFill>
          <p:spPr bwMode="auto">
            <a:xfrm flipV="1">
              <a:off x="1527049" y="3741529"/>
              <a:ext cx="881330" cy="17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7696A61-BD06-4471-84F8-F08BA5FD1666}"/>
                </a:ext>
              </a:extLst>
            </p:cNvPr>
            <p:cNvSpPr/>
            <p:nvPr/>
          </p:nvSpPr>
          <p:spPr>
            <a:xfrm>
              <a:off x="507962" y="3882680"/>
              <a:ext cx="2974735" cy="2843376"/>
            </a:xfrm>
            <a:prstGeom prst="roundRect">
              <a:avLst>
                <a:gd name="adj" fmla="val 13999"/>
              </a:avLst>
            </a:prstGeom>
            <a:solidFill>
              <a:schemeClr val="bg1"/>
            </a:solidFill>
            <a:ln>
              <a:solidFill>
                <a:srgbClr val="07B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Book Antiqua" panose="02040602050305030304" pitchFamily="18" charset="0"/>
                </a:rPr>
                <a:t>Dependent</a:t>
              </a:r>
              <a:r>
                <a:rPr lang="en-US" b="1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Inter-arrival time</a:t>
              </a:r>
            </a:p>
            <a:p>
              <a:pPr algn="ctr"/>
              <a:endParaRPr lang="en-US" b="1" dirty="0">
                <a:solidFill>
                  <a:schemeClr val="tx1"/>
                </a:solidFill>
                <a:latin typeface="Book Antiqua" panose="02040602050305030304" pitchFamily="18" charset="0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1393B1"/>
                  </a:solidFill>
                  <a:latin typeface="Book Antiqua" panose="02040602050305030304" pitchFamily="18" charset="0"/>
                </a:rPr>
                <a:t>Variable Time-slots</a:t>
              </a:r>
            </a:p>
            <a:p>
              <a:pPr algn="ctr"/>
              <a:endParaRPr lang="en-US" b="1" dirty="0">
                <a:solidFill>
                  <a:srgbClr val="0070C0"/>
                </a:solidFill>
                <a:latin typeface="Book Antiqua" panose="02040602050305030304" pitchFamily="18" charset="0"/>
              </a:endParaRPr>
            </a:p>
          </p:txBody>
        </p:sp>
      </p:grpSp>
      <p:pic>
        <p:nvPicPr>
          <p:cNvPr id="23" name="Picture 6" descr="Image result for people icon">
            <a:extLst>
              <a:ext uri="{FF2B5EF4-FFF2-40B4-BE49-F238E27FC236}">
                <a16:creationId xmlns:a16="http://schemas.microsoft.com/office/drawing/2014/main" id="{C0D5AFB5-7DCB-46E6-8B2A-88521E328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8" t="7827" r="76177" b="79410"/>
          <a:stretch/>
        </p:blipFill>
        <p:spPr bwMode="auto">
          <a:xfrm>
            <a:off x="6429886" y="-1815002"/>
            <a:ext cx="662787" cy="76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Image result for people icon">
            <a:extLst>
              <a:ext uri="{FF2B5EF4-FFF2-40B4-BE49-F238E27FC236}">
                <a16:creationId xmlns:a16="http://schemas.microsoft.com/office/drawing/2014/main" id="{02E7D55A-7F4F-473E-8CD4-9FEABF50B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18" t="8646" r="47267" b="78591"/>
          <a:stretch/>
        </p:blipFill>
        <p:spPr bwMode="auto">
          <a:xfrm>
            <a:off x="6353371" y="-865738"/>
            <a:ext cx="662787" cy="76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Image result for people icon">
            <a:extLst>
              <a:ext uri="{FF2B5EF4-FFF2-40B4-BE49-F238E27FC236}">
                <a16:creationId xmlns:a16="http://schemas.microsoft.com/office/drawing/2014/main" id="{D24DDABA-BB6C-455B-B611-A6116D9B2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8" t="7827" r="76177" b="79410"/>
          <a:stretch/>
        </p:blipFill>
        <p:spPr bwMode="auto">
          <a:xfrm>
            <a:off x="7466933" y="-2611476"/>
            <a:ext cx="662787" cy="76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mage result for people icon">
            <a:extLst>
              <a:ext uri="{FF2B5EF4-FFF2-40B4-BE49-F238E27FC236}">
                <a16:creationId xmlns:a16="http://schemas.microsoft.com/office/drawing/2014/main" id="{9BB7B904-8AFC-4642-91C7-B54D4CF48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18" t="8646" r="47267" b="78591"/>
          <a:stretch/>
        </p:blipFill>
        <p:spPr bwMode="auto">
          <a:xfrm>
            <a:off x="8697853" y="-2575980"/>
            <a:ext cx="662787" cy="76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8073990-EAC2-484E-817D-8E96A45E0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429531"/>
              </p:ext>
            </p:extLst>
          </p:nvPr>
        </p:nvGraphicFramePr>
        <p:xfrm>
          <a:off x="7169189" y="-1815002"/>
          <a:ext cx="2524992" cy="1710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496">
                  <a:extLst>
                    <a:ext uri="{9D8B030D-6E8A-4147-A177-3AD203B41FA5}">
                      <a16:colId xmlns:a16="http://schemas.microsoft.com/office/drawing/2014/main" val="2662817602"/>
                    </a:ext>
                  </a:extLst>
                </a:gridCol>
                <a:gridCol w="1262496">
                  <a:extLst>
                    <a:ext uri="{9D8B030D-6E8A-4147-A177-3AD203B41FA5}">
                      <a16:colId xmlns:a16="http://schemas.microsoft.com/office/drawing/2014/main" val="1208637880"/>
                    </a:ext>
                  </a:extLst>
                </a:gridCol>
              </a:tblGrid>
              <a:tr h="8551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20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164325"/>
                  </a:ext>
                </a:extLst>
              </a:tr>
              <a:tr h="8551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40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69887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FC92DF77-64B4-481C-B777-7607F2361209}"/>
              </a:ext>
            </a:extLst>
          </p:cNvPr>
          <p:cNvGrpSpPr/>
          <p:nvPr/>
        </p:nvGrpSpPr>
        <p:grpSpPr>
          <a:xfrm>
            <a:off x="4235948" y="-973848"/>
            <a:ext cx="2040908" cy="705858"/>
            <a:chOff x="2835504" y="5078545"/>
            <a:chExt cx="2040908" cy="705858"/>
          </a:xfrm>
        </p:grpSpPr>
        <p:pic>
          <p:nvPicPr>
            <p:cNvPr id="29" name="Picture 6" descr="Image result for people icon">
              <a:extLst>
                <a:ext uri="{FF2B5EF4-FFF2-40B4-BE49-F238E27FC236}">
                  <a16:creationId xmlns:a16="http://schemas.microsoft.com/office/drawing/2014/main" id="{31445129-9A23-40C0-A166-29B72BD115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18" t="8646" r="47267" b="78591"/>
            <a:stretch/>
          </p:blipFill>
          <p:spPr bwMode="auto">
            <a:xfrm>
              <a:off x="2835504" y="5111351"/>
              <a:ext cx="293103" cy="336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6" descr="Image result for people icon">
              <a:extLst>
                <a:ext uri="{FF2B5EF4-FFF2-40B4-BE49-F238E27FC236}">
                  <a16:creationId xmlns:a16="http://schemas.microsoft.com/office/drawing/2014/main" id="{917F907A-68B8-4B65-A389-3C34F3A06C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08" t="7827" r="76177" b="79410"/>
            <a:stretch/>
          </p:blipFill>
          <p:spPr bwMode="auto">
            <a:xfrm>
              <a:off x="2835505" y="5447877"/>
              <a:ext cx="293103" cy="336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F1D2186-0533-4CC6-BF33-3B0797AF7DE2}"/>
                </a:ext>
              </a:extLst>
            </p:cNvPr>
            <p:cNvSpPr txBox="1"/>
            <p:nvPr/>
          </p:nvSpPr>
          <p:spPr>
            <a:xfrm>
              <a:off x="3228204" y="5078545"/>
              <a:ext cx="16482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Book Antiqua" panose="02040602050305030304" pitchFamily="18" charset="0"/>
                </a:rPr>
                <a:t>Follow-up Patient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21FD34-9859-4DA5-900B-0E6401AFD35F}"/>
                </a:ext>
              </a:extLst>
            </p:cNvPr>
            <p:cNvSpPr txBox="1"/>
            <p:nvPr/>
          </p:nvSpPr>
          <p:spPr>
            <a:xfrm>
              <a:off x="3228203" y="5447877"/>
              <a:ext cx="1451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Book Antiqua" panose="02040602050305030304" pitchFamily="18" charset="0"/>
                </a:rPr>
                <a:t>Consult Patient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A43A80-9DE9-495D-A25B-FDD95B48C5BF}"/>
              </a:ext>
            </a:extLst>
          </p:cNvPr>
          <p:cNvGrpSpPr/>
          <p:nvPr/>
        </p:nvGrpSpPr>
        <p:grpSpPr>
          <a:xfrm>
            <a:off x="7971540" y="2728352"/>
            <a:ext cx="3359187" cy="3414697"/>
            <a:chOff x="8129720" y="1863633"/>
            <a:chExt cx="3359187" cy="341469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84CC1E1-829E-4046-93DB-7CA570CA4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9720" y="1863633"/>
              <a:ext cx="3359187" cy="251786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5A1345A-0C45-4C8E-876A-9FF1E8FC2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9720" y="4528457"/>
              <a:ext cx="2060627" cy="749873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B77EEE3-DE86-4AB8-AC2D-19405CC66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248" y="4712156"/>
            <a:ext cx="1781876" cy="133559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715EF26-473B-46AA-A235-F0CA24BFF1D8}"/>
              </a:ext>
            </a:extLst>
          </p:cNvPr>
          <p:cNvGrpSpPr/>
          <p:nvPr/>
        </p:nvGrpSpPr>
        <p:grpSpPr>
          <a:xfrm>
            <a:off x="8201444" y="1264204"/>
            <a:ext cx="3243358" cy="4878845"/>
            <a:chOff x="349806" y="1847211"/>
            <a:chExt cx="3243358" cy="4878845"/>
          </a:xfrm>
        </p:grpSpPr>
        <p:pic>
          <p:nvPicPr>
            <p:cNvPr id="38" name="Picture 4" descr="Image result for Options infographic">
              <a:extLst>
                <a:ext uri="{FF2B5EF4-FFF2-40B4-BE49-F238E27FC236}">
                  <a16:creationId xmlns:a16="http://schemas.microsoft.com/office/drawing/2014/main" id="{62F76ABC-126A-451D-8BB8-E031769799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06" t="32474" r="28459" b="32474"/>
            <a:stretch/>
          </p:blipFill>
          <p:spPr bwMode="auto">
            <a:xfrm>
              <a:off x="1536253" y="2368848"/>
              <a:ext cx="881330" cy="1419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8880467-FB2E-467C-908C-3A53282C40C4}"/>
                </a:ext>
              </a:extLst>
            </p:cNvPr>
            <p:cNvSpPr/>
            <p:nvPr/>
          </p:nvSpPr>
          <p:spPr>
            <a:xfrm>
              <a:off x="349806" y="1847211"/>
              <a:ext cx="3243358" cy="5339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393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1393B1"/>
                  </a:solidFill>
                  <a:latin typeface="Book Antiqua" panose="02040602050305030304" pitchFamily="18" charset="0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Book Antiqua" panose="02040602050305030304" pitchFamily="18" charset="0"/>
                </a:rPr>
                <a:t>Non-blocked</a:t>
              </a:r>
              <a:r>
                <a:rPr lang="en-US" b="1" dirty="0">
                  <a:solidFill>
                    <a:srgbClr val="1393B1"/>
                  </a:solidFill>
                  <a:latin typeface="Book Antiqua" panose="02040602050305030304" pitchFamily="18" charset="0"/>
                </a:rPr>
                <a:t> Scheduling</a:t>
              </a:r>
            </a:p>
          </p:txBody>
        </p:sp>
        <p:pic>
          <p:nvPicPr>
            <p:cNvPr id="40" name="Picture 4" descr="Image result for Options infographic">
              <a:extLst>
                <a:ext uri="{FF2B5EF4-FFF2-40B4-BE49-F238E27FC236}">
                  <a16:creationId xmlns:a16="http://schemas.microsoft.com/office/drawing/2014/main" id="{CBE149A6-EEF5-43BF-8C5C-5826E540F6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576" t="32873" r="28189" b="62885"/>
            <a:stretch/>
          </p:blipFill>
          <p:spPr bwMode="auto">
            <a:xfrm flipV="1">
              <a:off x="1557734" y="3741529"/>
              <a:ext cx="881330" cy="17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A2C52F9-4454-420B-BB20-A443931EBDF8}"/>
                </a:ext>
              </a:extLst>
            </p:cNvPr>
            <p:cNvSpPr/>
            <p:nvPr/>
          </p:nvSpPr>
          <p:spPr>
            <a:xfrm>
              <a:off x="507962" y="3882680"/>
              <a:ext cx="2974735" cy="2843376"/>
            </a:xfrm>
            <a:prstGeom prst="roundRect">
              <a:avLst>
                <a:gd name="adj" fmla="val 13999"/>
              </a:avLst>
            </a:prstGeom>
            <a:solidFill>
              <a:schemeClr val="bg1"/>
            </a:solidFill>
            <a:ln>
              <a:solidFill>
                <a:srgbClr val="1393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Book Antiqua" panose="02040602050305030304" pitchFamily="18" charset="0"/>
                </a:rPr>
                <a:t>Flexible</a:t>
              </a:r>
              <a:r>
                <a:rPr lang="en-US" b="1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Inter-arrival time</a:t>
              </a:r>
            </a:p>
            <a:p>
              <a:pPr algn="ctr"/>
              <a:endParaRPr lang="en-US" b="1" dirty="0">
                <a:solidFill>
                  <a:schemeClr val="tx1"/>
                </a:solidFill>
                <a:latin typeface="Book Antiqua" panose="02040602050305030304" pitchFamily="18" charset="0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1393B1"/>
                  </a:solidFill>
                  <a:latin typeface="Book Antiqua" panose="02040602050305030304" pitchFamily="18" charset="0"/>
                </a:rPr>
                <a:t>Open Time-slots</a:t>
              </a:r>
            </a:p>
            <a:p>
              <a:pPr algn="ctr"/>
              <a:endParaRPr lang="en-US" b="1" dirty="0">
                <a:solidFill>
                  <a:srgbClr val="0070C0"/>
                </a:solidFill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458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31F2-480A-49BE-AFF3-15EEC3EC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Model Results – Part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3552F-21FC-4917-8355-FBEC9647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Comparing 3 Simheuristic Methods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3530D5-F51D-4F98-A482-28C99B10495A}"/>
              </a:ext>
            </a:extLst>
          </p:cNvPr>
          <p:cNvSpPr txBox="1">
            <a:spLocks/>
          </p:cNvSpPr>
          <p:nvPr/>
        </p:nvSpPr>
        <p:spPr bwMode="auto">
          <a:xfrm>
            <a:off x="6639368" y="1219201"/>
            <a:ext cx="5095432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Book Antiqua" pitchFamily="18" charset="0"/>
                <a:ea typeface="Book Antiqua" pitchFamily="18" charset="0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Book Antiqua" pitchFamily="18" charset="0"/>
                <a:ea typeface="Book Antiqua" pitchFamily="18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Book Antiqua" pitchFamily="18" charset="0"/>
                <a:ea typeface="Book Antiqua" pitchFamily="18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1800" baseline="0">
                <a:solidFill>
                  <a:schemeClr val="tx1"/>
                </a:solidFill>
                <a:latin typeface="Book Antiqua" pitchFamily="18" charset="0"/>
                <a:ea typeface="Book Antiqua" pitchFamily="18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Book Antiqua" pitchFamily="18" charset="0"/>
                <a:ea typeface="Book Antiqua" pitchFamily="18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kern="0" dirty="0"/>
              <a:t>All Simheuristic Methods outperform Heuristic Approaches</a:t>
            </a:r>
          </a:p>
          <a:p>
            <a:endParaRPr lang="en-US" kern="0" dirty="0"/>
          </a:p>
          <a:p>
            <a:r>
              <a:rPr lang="en-US" kern="0" dirty="0"/>
              <a:t>Both Non-blocked approaches are superior to blocked scheduling approach</a:t>
            </a:r>
          </a:p>
          <a:p>
            <a:endParaRPr lang="en-US" kern="0" dirty="0"/>
          </a:p>
          <a:p>
            <a:r>
              <a:rPr lang="en-US" kern="0" dirty="0"/>
              <a:t>Semi Nonblocked-booking is more practical than Nonblocked approach</a:t>
            </a:r>
          </a:p>
          <a:p>
            <a:endParaRPr lang="en-US" kern="0" dirty="0"/>
          </a:p>
          <a:p>
            <a:pPr lvl="1"/>
            <a:endParaRPr lang="en-US" kern="0" dirty="0"/>
          </a:p>
          <a:p>
            <a:pPr lvl="1"/>
            <a:endParaRPr lang="en-US" kern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25CCD1-96C1-4728-A865-A5E4D5D52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11678"/>
            <a:ext cx="5728056" cy="45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5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583" y="1158450"/>
            <a:ext cx="113173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 Conclusions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Simheuristic framework to perform table-experiments for a simulation model of a breast cancer center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Optimization with Simulation-based Iterations (OSI) that links SA algorithm programmed in MATLAB with Simio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Proposed schedule is significantly better that five tested heuristics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Using s Semi Non-Blocked approach might be more practical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Book Antiqua" panose="0204060205030503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ook Antiqua" panose="02040602050305030304" pitchFamily="18" charset="0"/>
              </a:rPr>
              <a:t>Future work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Study other performance measures; patient direct and indirect waiting time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Add other environmental factors; patient no-show and patient and provider punctuality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A same date appointment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Book Antiqua" panose="02040602050305030304" pitchFamily="18" charset="0"/>
              </a:rPr>
              <a:t>Physician’s preferences</a:t>
            </a:r>
          </a:p>
        </p:txBody>
      </p:sp>
    </p:spTree>
    <p:extLst>
      <p:ext uri="{BB962C8B-B14F-4D97-AF65-F5344CB8AC3E}">
        <p14:creationId xmlns:p14="http://schemas.microsoft.com/office/powerpoint/2010/main" val="404742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335078" y="2411344"/>
            <a:ext cx="3332921" cy="1524000"/>
          </a:xfrm>
        </p:spPr>
        <p:txBody>
          <a:bodyPr>
            <a:noAutofit/>
          </a:bodyPr>
          <a:lstStyle/>
          <a:p>
            <a:pPr algn="ctr"/>
            <a:r>
              <a:rPr lang="en-US" sz="1800" dirty="0">
                <a:latin typeface="Monotype Corsiva" pitchFamily="66" charset="0"/>
                <a:cs typeface="Calibri" pitchFamily="34" charset="0"/>
              </a:rPr>
              <a:t>Thank You!</a:t>
            </a:r>
            <a:br>
              <a:rPr lang="en-US" sz="1800" dirty="0">
                <a:latin typeface="Monotype Corsiva" pitchFamily="66" charset="0"/>
                <a:cs typeface="Calibri" pitchFamily="34" charset="0"/>
              </a:rPr>
            </a:br>
            <a:r>
              <a:rPr lang="en-US" sz="1800" dirty="0">
                <a:cs typeface="Calibri" pitchFamily="34" charset="0"/>
                <a:hlinkClick r:id="rId5"/>
              </a:rPr>
              <a:t>m.dehghani@neu.edu</a:t>
            </a:r>
            <a:endParaRPr lang="en-US" sz="1800" dirty="0">
              <a:cs typeface="Calibri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0A909C-214C-4D90-9811-196FEA252DB6}"/>
              </a:ext>
            </a:extLst>
          </p:cNvPr>
          <p:cNvGrpSpPr/>
          <p:nvPr/>
        </p:nvGrpSpPr>
        <p:grpSpPr>
          <a:xfrm>
            <a:off x="728791" y="5250767"/>
            <a:ext cx="10734418" cy="932851"/>
            <a:chOff x="896539" y="5669867"/>
            <a:chExt cx="10734418" cy="932851"/>
          </a:xfrm>
        </p:grpSpPr>
        <p:pic>
          <p:nvPicPr>
            <p:cNvPr id="7" name="Picture 2" descr="Image result for northeastern University">
              <a:extLst>
                <a:ext uri="{FF2B5EF4-FFF2-40B4-BE49-F238E27FC236}">
                  <a16:creationId xmlns:a16="http://schemas.microsoft.com/office/drawing/2014/main" id="{E3CF69E2-E928-4E44-BBC3-80CA1621CE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539" y="5669867"/>
              <a:ext cx="3758136" cy="541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Image result for Binghamton University">
              <a:extLst>
                <a:ext uri="{FF2B5EF4-FFF2-40B4-BE49-F238E27FC236}">
                  <a16:creationId xmlns:a16="http://schemas.microsoft.com/office/drawing/2014/main" id="{BB2ACA5A-AA42-4B5A-9DCB-B986199F4F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533"/>
            <a:stretch/>
          </p:blipFill>
          <p:spPr bwMode="auto">
            <a:xfrm>
              <a:off x="4810436" y="5669867"/>
              <a:ext cx="2854761" cy="932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Related image">
              <a:extLst>
                <a:ext uri="{FF2B5EF4-FFF2-40B4-BE49-F238E27FC236}">
                  <a16:creationId xmlns:a16="http://schemas.microsoft.com/office/drawing/2014/main" id="{4C69E190-D25E-4697-92C6-8F3ED7E358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98" b="29513"/>
            <a:stretch/>
          </p:blipFill>
          <p:spPr bwMode="auto">
            <a:xfrm>
              <a:off x="7820957" y="5669867"/>
              <a:ext cx="3810000" cy="698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mp4">
            <a:hlinkClick r:id="" action="ppaction://media"/>
            <a:extLst>
              <a:ext uri="{FF2B5EF4-FFF2-40B4-BE49-F238E27FC236}">
                <a16:creationId xmlns:a16="http://schemas.microsoft.com/office/drawing/2014/main" id="{1F981005-B568-4EBD-B017-0452EB6385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3357" y="391876"/>
            <a:ext cx="6162034" cy="473114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63A452-433C-4975-BE8E-9A9CE82E4BF0}"/>
              </a:ext>
            </a:extLst>
          </p:cNvPr>
          <p:cNvGrpSpPr/>
          <p:nvPr/>
        </p:nvGrpSpPr>
        <p:grpSpPr>
          <a:xfrm>
            <a:off x="2297721" y="2537318"/>
            <a:ext cx="2545307" cy="519245"/>
            <a:chOff x="2297721" y="2537318"/>
            <a:chExt cx="2545307" cy="5192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EF2BAD3-7078-43CA-A1E4-A80189F7F439}"/>
                </a:ext>
              </a:extLst>
            </p:cNvPr>
            <p:cNvSpPr/>
            <p:nvPr/>
          </p:nvSpPr>
          <p:spPr>
            <a:xfrm>
              <a:off x="2297721" y="2566991"/>
              <a:ext cx="2545307" cy="39932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C4F431-414F-4CC0-9602-D587F8634DC2}"/>
                </a:ext>
              </a:extLst>
            </p:cNvPr>
            <p:cNvSpPr/>
            <p:nvPr/>
          </p:nvSpPr>
          <p:spPr>
            <a:xfrm>
              <a:off x="2371970" y="2537318"/>
              <a:ext cx="308708" cy="39932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775EA6-12B5-47EA-BBCA-1897990B4C55}"/>
                </a:ext>
              </a:extLst>
            </p:cNvPr>
            <p:cNvSpPr/>
            <p:nvPr/>
          </p:nvSpPr>
          <p:spPr>
            <a:xfrm>
              <a:off x="2297721" y="2876060"/>
              <a:ext cx="179755" cy="18050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871E0-6AB6-4721-8B34-B34470C6AE55}"/>
              </a:ext>
            </a:extLst>
          </p:cNvPr>
          <p:cNvSpPr/>
          <p:nvPr/>
        </p:nvSpPr>
        <p:spPr>
          <a:xfrm>
            <a:off x="2254737" y="2681241"/>
            <a:ext cx="1173704" cy="220131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100581"/>
                </a:solidFill>
                <a:latin typeface="Arial Black" panose="020B0A04020102020204" pitchFamily="34" charset="0"/>
              </a:rPr>
              <a:t>WSC</a:t>
            </a:r>
          </a:p>
        </p:txBody>
      </p:sp>
    </p:spTree>
    <p:extLst>
      <p:ext uri="{BB962C8B-B14F-4D97-AF65-F5344CB8AC3E}">
        <p14:creationId xmlns:p14="http://schemas.microsoft.com/office/powerpoint/2010/main" val="24162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1_Selling points presentation">
  <a:themeElements>
    <a:clrScheme name="1_Selling points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9933"/>
      </a:accent1>
      <a:accent2>
        <a:srgbClr val="DBA215"/>
      </a:accent2>
      <a:accent3>
        <a:srgbClr val="FFFFFF"/>
      </a:accent3>
      <a:accent4>
        <a:srgbClr val="000000"/>
      </a:accent4>
      <a:accent5>
        <a:srgbClr val="FFCAAD"/>
      </a:accent5>
      <a:accent6>
        <a:srgbClr val="C69212"/>
      </a:accent6>
      <a:hlink>
        <a:srgbClr val="0066CC"/>
      </a:hlink>
      <a:folHlink>
        <a:srgbClr val="DDDDDD"/>
      </a:folHlink>
    </a:clrScheme>
    <a:fontScheme name="1_Selling points presentation">
      <a:majorFont>
        <a:latin typeface="Meiryo"/>
        <a:ea typeface=""/>
        <a:cs typeface="Arial"/>
      </a:majorFont>
      <a:minorFont>
        <a:latin typeface="Meiryo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elling points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933"/>
        </a:accent1>
        <a:accent2>
          <a:srgbClr val="DBA215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C69212"/>
        </a:accent6>
        <a:hlink>
          <a:srgbClr val="0066C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3626</TotalTime>
  <Words>727</Words>
  <Application>Microsoft Office PowerPoint</Application>
  <PresentationFormat>Widescreen</PresentationFormat>
  <Paragraphs>158</Paragraphs>
  <Slides>17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Arial Black</vt:lpstr>
      <vt:lpstr>Bodoni Poster</vt:lpstr>
      <vt:lpstr>Book Antiqua</vt:lpstr>
      <vt:lpstr>Calibri</vt:lpstr>
      <vt:lpstr>Courier New</vt:lpstr>
      <vt:lpstr>Eras Light ITC</vt:lpstr>
      <vt:lpstr>Georgia</vt:lpstr>
      <vt:lpstr>Meiryo</vt:lpstr>
      <vt:lpstr>Monotype Corsiva</vt:lpstr>
      <vt:lpstr>Times New Roman</vt:lpstr>
      <vt:lpstr>Wingdings</vt:lpstr>
      <vt:lpstr>1_Selling points presentation</vt:lpstr>
      <vt:lpstr>Using a Simulation-Optimization approach to Optimize Patients Scheduling- A Table-Experiment Approach </vt:lpstr>
      <vt:lpstr>MIE Department – Northeastern University</vt:lpstr>
      <vt:lpstr>Agenda</vt:lpstr>
      <vt:lpstr>Problem Statement &amp; Objectives</vt:lpstr>
      <vt:lpstr>Introduction</vt:lpstr>
      <vt:lpstr>Methodology</vt:lpstr>
      <vt:lpstr>Methodology – Simheuristic Approach</vt:lpstr>
      <vt:lpstr>Methodology</vt:lpstr>
      <vt:lpstr>Breast Center Overview</vt:lpstr>
      <vt:lpstr>Swim Lane Diagram – Breast Center</vt:lpstr>
      <vt:lpstr>Experimental Design </vt:lpstr>
      <vt:lpstr>Simulation Model</vt:lpstr>
      <vt:lpstr>Simulation Model Results – Part 1</vt:lpstr>
      <vt:lpstr>Model Extension</vt:lpstr>
      <vt:lpstr>Simulation Model Results – Part II</vt:lpstr>
      <vt:lpstr>Conclusion &amp; Future Work</vt:lpstr>
      <vt:lpstr>Thank You! m.dehghani@neu.edu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Different Proposed Scheduling Strategies with Discrete Event Simulation</dc:title>
  <dc:creator>mrezaei1</dc:creator>
  <cp:lastModifiedBy>Mohammad Dehghani</cp:lastModifiedBy>
  <cp:revision>198</cp:revision>
  <cp:lastPrinted>2016-12-15T00:27:04Z</cp:lastPrinted>
  <dcterms:created xsi:type="dcterms:W3CDTF">2016-12-12T03:08:35Z</dcterms:created>
  <dcterms:modified xsi:type="dcterms:W3CDTF">2017-12-05T21:59:51Z</dcterms:modified>
</cp:coreProperties>
</file>